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3" r:id="rId8"/>
    <p:sldId id="259" r:id="rId9"/>
    <p:sldId id="266" r:id="rId10"/>
    <p:sldId id="260" r:id="rId11"/>
    <p:sldId id="264" r:id="rId12"/>
    <p:sldId id="261" r:id="rId13"/>
    <p:sldId id="265" r:id="rId14"/>
    <p:sldId id="26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i9ezVY9wK8EWiofeVcoWX4Xga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B4A6E07-A774-1BAD-865B-C912FADA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46EBC7-545B-9D69-31EB-4F4804E47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18995222-7CAB-1E18-60E2-DB432210D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0129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95D3CA9-8D77-0EAB-BFC6-5C841BC9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45879D97-A409-3204-B740-110928B66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1C7BBC54-AB4E-256E-AB0F-4218513C3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45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79F7D6A-1CE5-2AF1-0140-0668073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737BF97A-0F73-47AB-6078-F531C7033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1B443751-A308-610C-720B-8375456C3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2915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366600" y="1794833"/>
            <a:ext cx="5458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sng" strike="noStrike" cap="none" dirty="0">
                <a:solidFill>
                  <a:schemeClr val="dk1"/>
                </a:solidFill>
                <a:latin typeface="Bookman Old Style" panose="02050604050505020204" pitchFamily="18" charset="0"/>
                <a:ea typeface="Calibri"/>
                <a:cs typeface="Calibri"/>
                <a:sym typeface="Calibri"/>
              </a:rPr>
              <a:t>Introduction</a:t>
            </a:r>
            <a:r>
              <a:rPr lang="en-US" sz="4400" b="1" i="0" u="none" strike="noStrike" cap="none" dirty="0">
                <a:solidFill>
                  <a:schemeClr val="dk1"/>
                </a:solidFill>
                <a:latin typeface="Bookman Old Style" panose="02050604050505020204" pitchFamily="18" charset="0"/>
                <a:ea typeface="Calibri"/>
                <a:cs typeface="Calibri"/>
                <a:sym typeface="Calibri"/>
              </a:rPr>
              <a:t> </a:t>
            </a: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87" name="Google Shape;87;p1"/>
          <p:cNvSpPr/>
          <p:nvPr/>
        </p:nvSpPr>
        <p:spPr>
          <a:xfrm flipH="1">
            <a:off x="0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30650" y="3321037"/>
            <a:ext cx="77307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Team Name : </a:t>
            </a:r>
            <a:r>
              <a:rPr lang="en-US" sz="3600" b="1" dirty="0" err="1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DevSquad</a:t>
            </a:r>
            <a:r>
              <a:rPr lang="en-US" sz="3600" b="1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  </a:t>
            </a:r>
            <a:endParaRPr sz="3600" b="1" dirty="0">
              <a:solidFill>
                <a:schemeClr val="dk1"/>
              </a:solidFill>
              <a:latin typeface="Book Antiqua" panose="02040602050305030304" pitchFamily="18" charset="0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Theme :  Clean and Green Energy</a:t>
            </a:r>
            <a:endParaRPr sz="3600" b="1" dirty="0">
              <a:solidFill>
                <a:schemeClr val="dk1"/>
              </a:solidFill>
              <a:latin typeface="Book Antiqua" panose="02040602050305030304" pitchFamily="18" charset="0"/>
              <a:ea typeface="Calibri"/>
              <a:cs typeface="Calibri"/>
            </a:endParaRPr>
          </a:p>
          <a:p>
            <a:pPr marL="0" marR="0" lvl="0" indent="1143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  </a:t>
            </a:r>
            <a:endParaRPr dirty="0"/>
          </a:p>
        </p:txBody>
      </p:sp>
      <p:sp>
        <p:nvSpPr>
          <p:cNvPr id="98" name="Google Shape;98;p2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7439892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dirty="0">
                <a:latin typeface="Bookman Old Style" panose="02050604050505020204" pitchFamily="18" charset="0"/>
              </a:rPr>
              <a:t>Name of Team leader – Yash Sharma</a:t>
            </a:r>
          </a:p>
          <a:p>
            <a:pPr marL="0" indent="0">
              <a:buSzPts val="11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dirty="0">
                <a:latin typeface="Bookman Old Style" panose="02050604050505020204" pitchFamily="18" charset="0"/>
              </a:rPr>
              <a:t>Name of Team Members </a:t>
            </a:r>
          </a:p>
          <a:p>
            <a:pPr marL="342900"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latin typeface="Bookman Old Style" panose="02050604050505020204" pitchFamily="18" charset="0"/>
              </a:rPr>
              <a:t>Nilesh Sharma</a:t>
            </a:r>
          </a:p>
          <a:p>
            <a:pPr marL="342900"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latin typeface="Bookman Old Style" panose="02050604050505020204" pitchFamily="18" charset="0"/>
              </a:rPr>
              <a:t>Mohit Ghanghas</a:t>
            </a:r>
          </a:p>
          <a:p>
            <a:pPr marL="342900"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latin typeface="Bookman Old Style" panose="02050604050505020204" pitchFamily="18" charset="0"/>
              </a:rPr>
              <a:t>Mukul Yadav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-50584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7186527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Bookman Old Style" panose="02050604050505020204" pitchFamily="18" charset="0"/>
              </a:rPr>
              <a:t>Green Energy Marketplace for trading carbon credits and renewable resources.</a:t>
            </a:r>
            <a:endParaRPr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2E0FBF2-2776-8E18-00DE-FC086963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9090F4EE-F728-C1CF-ACAE-09985D2C521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F51FDCA0-29C1-FC49-5217-E6A081F4993C}"/>
              </a:ext>
            </a:extLst>
          </p:cNvPr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DF23CE5-2A1C-1737-953F-807A77AE4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9642504-A1C1-5EB2-6A2D-93B38FF62223}"/>
              </a:ext>
            </a:extLst>
          </p:cNvPr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EB64F-3A94-20BA-D61C-5952C7203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850" y="460293"/>
            <a:ext cx="772976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Sustainability Focus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Growing need for green energy and carbon credit trading.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Platform Gaps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No centralized, user-friendly marketplace.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Fraud Issues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Inefficient verification fosters mistrust.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Limited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Small entities face barriers in sustainability efforts.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Measurement Challenges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Difficulty tracking carbon footprints.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Missed Goals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Organizations struggle to meet climate targets.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Solution Gap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 Need for a transparent, inclusive, and efficient platform.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9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39399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645173" y="1095504"/>
            <a:ext cx="2181350" cy="448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Description</a:t>
            </a:r>
            <a:endParaRPr sz="31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4"/>
          <p:cNvCxnSpPr>
            <a:cxnSpLocks/>
          </p:cNvCxnSpPr>
          <p:nvPr/>
        </p:nvCxnSpPr>
        <p:spPr>
          <a:xfrm>
            <a:off x="2834946" y="1452786"/>
            <a:ext cx="0" cy="4031226"/>
          </a:xfrm>
          <a:prstGeom prst="straightConnector1">
            <a:avLst/>
          </a:prstGeom>
          <a:noFill/>
          <a:ln w="19050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2843370" y="727587"/>
            <a:ext cx="8247415" cy="532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Tech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Frontend</a:t>
            </a:r>
            <a:r>
              <a:rPr lang="en-IN" sz="1800" dirty="0">
                <a:latin typeface="Bookman Old Style" panose="02050604050505020204" pitchFamily="18" charset="0"/>
              </a:rPr>
              <a:t>: React.js, Tailwind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Backend</a:t>
            </a:r>
            <a:r>
              <a:rPr lang="en-IN" sz="1800" dirty="0">
                <a:latin typeface="Bookman Old Style" panose="02050604050505020204" pitchFamily="18" charset="0"/>
              </a:rPr>
              <a:t>: Node.js with Express.js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Database</a:t>
            </a:r>
            <a:r>
              <a:rPr lang="en-IN" sz="1800" dirty="0">
                <a:latin typeface="Bookman Old Style" panose="02050604050505020204" pitchFamily="18" charset="0"/>
              </a:rPr>
              <a:t>: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Blockchain</a:t>
            </a:r>
            <a:r>
              <a:rPr lang="en-IN" sz="1800" dirty="0">
                <a:latin typeface="Bookman Old Style" panose="02050604050505020204" pitchFamily="18" charset="0"/>
              </a:rPr>
              <a:t>: Ethereum/Hyperledger for secure, traceable transactions</a:t>
            </a:r>
          </a:p>
          <a:p>
            <a:pPr marL="114300" indent="0"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Core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Carbon Credit Trading</a:t>
            </a:r>
            <a:r>
              <a:rPr lang="en-IN" sz="1800" dirty="0">
                <a:latin typeface="Bookman Old Style" panose="02050604050505020204" pitchFamily="18" charset="0"/>
              </a:rPr>
              <a:t>: Purchase and sell verified carbon credits seamlessly.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Renewable Energy Marketplace</a:t>
            </a:r>
            <a:r>
              <a:rPr lang="en-IN" sz="1800" dirty="0">
                <a:latin typeface="Bookman Old Style" panose="02050604050505020204" pitchFamily="18" charset="0"/>
              </a:rPr>
              <a:t>: Direct trading of solar, wind, and biomass 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Emission Calculator</a:t>
            </a:r>
            <a:r>
              <a:rPr lang="en-IN" sz="1800" dirty="0">
                <a:latin typeface="Bookman Old Style" panose="02050604050505020204" pitchFamily="18" charset="0"/>
              </a:rPr>
              <a:t>: Calculate carbon footprints with tailored offset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Transparency</a:t>
            </a:r>
            <a:r>
              <a:rPr lang="en-IN" sz="1800" dirty="0">
                <a:latin typeface="Bookman Old Style" panose="02050604050505020204" pitchFamily="18" charset="0"/>
              </a:rPr>
              <a:t>: Blockchain ensures fraud-free, traceable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man Old Style" panose="02050604050505020204" pitchFamily="18" charset="0"/>
              </a:rPr>
              <a:t>Certificates &amp; Rewards</a:t>
            </a:r>
            <a:r>
              <a:rPr lang="en-IN" sz="1800" dirty="0">
                <a:latin typeface="Bookman Old Style" panose="02050604050505020204" pitchFamily="18" charset="0"/>
              </a:rPr>
              <a:t>: Receive instant digital certificates and earn gamified rewards for contributions.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80446957-94FF-2A5A-D8ED-5F552C14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91" r="18122"/>
          <a:stretch/>
        </p:blipFill>
        <p:spPr>
          <a:xfrm>
            <a:off x="1076446" y="0"/>
            <a:ext cx="101857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30A12-9288-869C-562C-D4DAA20A177C}"/>
              </a:ext>
            </a:extLst>
          </p:cNvPr>
          <p:cNvSpPr txBox="1"/>
          <p:nvPr/>
        </p:nvSpPr>
        <p:spPr>
          <a:xfrm>
            <a:off x="1288025" y="314631"/>
            <a:ext cx="2951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Bookman Old Style" panose="02050604050505020204" pitchFamily="18" charset="0"/>
              </a:rPr>
              <a:t>Flow Chart :-</a:t>
            </a:r>
          </a:p>
        </p:txBody>
      </p:sp>
    </p:spTree>
    <p:extLst>
      <p:ext uri="{BB962C8B-B14F-4D97-AF65-F5344CB8AC3E}">
        <p14:creationId xmlns:p14="http://schemas.microsoft.com/office/powerpoint/2010/main" val="241544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1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0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804672" y="457200"/>
            <a:ext cx="105795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of the Problem</a:t>
            </a:r>
            <a:endParaRPr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5"/>
          <p:cNvGrpSpPr/>
          <p:nvPr/>
        </p:nvGrpSpPr>
        <p:grpSpPr>
          <a:xfrm rot="5400000">
            <a:off x="9262371" y="134262"/>
            <a:ext cx="3142428" cy="2716829"/>
            <a:chOff x="-305" y="-4155"/>
            <a:chExt cx="2514948" cy="2174333"/>
          </a:xfrm>
        </p:grpSpPr>
        <p:sp>
          <p:nvSpPr>
            <p:cNvPr id="130" name="Google Shape;130;p5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5"/>
          <p:cNvGrpSpPr/>
          <p:nvPr/>
        </p:nvGrpSpPr>
        <p:grpSpPr>
          <a:xfrm rot="10800000" flipH="1">
            <a:off x="0" y="5048048"/>
            <a:ext cx="2412031" cy="1809952"/>
            <a:chOff x="-305" y="-1"/>
            <a:chExt cx="3832880" cy="2876136"/>
          </a:xfrm>
        </p:grpSpPr>
        <p:sp>
          <p:nvSpPr>
            <p:cNvPr id="135" name="Google Shape;135;p5"/>
            <p:cNvSpPr/>
            <p:nvPr/>
          </p:nvSpPr>
          <p:spPr>
            <a:xfrm>
              <a:off x="305" y="1"/>
              <a:ext cx="3815424" cy="2653659"/>
            </a:xfrm>
            <a:custGeom>
              <a:avLst/>
              <a:gdLst/>
              <a:ahLst/>
              <a:cxnLst/>
              <a:rect l="l" t="t" r="r" b="b"/>
              <a:pathLst>
                <a:path w="3815424" h="2653659" extrusionOk="0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305" y="-1"/>
              <a:ext cx="3815424" cy="2653660"/>
            </a:xfrm>
            <a:custGeom>
              <a:avLst/>
              <a:gdLst/>
              <a:ahLst/>
              <a:cxnLst/>
              <a:rect l="l" t="t" r="r" b="b"/>
              <a:pathLst>
                <a:path w="3815424" h="2653660" extrusionOk="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305" y="1"/>
              <a:ext cx="3815986" cy="2675935"/>
            </a:xfrm>
            <a:custGeom>
              <a:avLst/>
              <a:gdLst/>
              <a:ahLst/>
              <a:cxnLst/>
              <a:rect l="l" t="t" r="r" b="b"/>
              <a:pathLst>
                <a:path w="3815986" h="2675935" extrusionOk="0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305" y="-1"/>
              <a:ext cx="3832270" cy="2876136"/>
            </a:xfrm>
            <a:custGeom>
              <a:avLst/>
              <a:gdLst/>
              <a:ahLst/>
              <a:cxnLst/>
              <a:rect l="l" t="t" r="r" b="b"/>
              <a:pathLst>
                <a:path w="3832270" h="2876136" extrusionOk="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346199" y="1733649"/>
            <a:ext cx="10075995" cy="45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The Green Energy Marketplace addresses the problem by creating a transparent and accessible platform for trading carbon credits and renewable energy resources.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Key Features: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Marketplace for Trading: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Buyers can search and filter listings of carbon credits or renewable energy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Sellers can list their surplus resources and set dynamic prices.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Carbon Footprint Calculator: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Users can estimate their greenhouse gas emissions based on activities like electricity usage, transportation, and waste generation.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Recommendations are provided for reducing emissions and purchasing appropriate offsets.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08ECDD6A-4284-73BA-3A2C-D1294DBE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CBAC6BF6-7AE1-AA22-40CA-407DB39793AF}"/>
              </a:ext>
            </a:extLst>
          </p:cNvPr>
          <p:cNvSpPr/>
          <p:nvPr/>
        </p:nvSpPr>
        <p:spPr>
          <a:xfrm>
            <a:off x="-1726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>
            <a:extLst>
              <a:ext uri="{FF2B5EF4-FFF2-40B4-BE49-F238E27FC236}">
                <a16:creationId xmlns:a16="http://schemas.microsoft.com/office/drawing/2014/main" id="{297B3793-48C4-916C-D03B-759EF619A9D1}"/>
              </a:ext>
            </a:extLst>
          </p:cNvPr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>
            <a:extLst>
              <a:ext uri="{FF2B5EF4-FFF2-40B4-BE49-F238E27FC236}">
                <a16:creationId xmlns:a16="http://schemas.microsoft.com/office/drawing/2014/main" id="{6E6ABB03-C8FA-3B2F-9E41-60FFE714918B}"/>
              </a:ext>
            </a:extLst>
          </p:cNvPr>
          <p:cNvSpPr/>
          <p:nvPr/>
        </p:nvSpPr>
        <p:spPr>
          <a:xfrm>
            <a:off x="641774" y="623275"/>
            <a:ext cx="10905000" cy="5607900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49218-E2F1-52C8-6C01-E2A877DA1345}"/>
              </a:ext>
            </a:extLst>
          </p:cNvPr>
          <p:cNvSpPr txBox="1"/>
          <p:nvPr/>
        </p:nvSpPr>
        <p:spPr>
          <a:xfrm>
            <a:off x="938904" y="666424"/>
            <a:ext cx="89262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4.Transparent Transactions: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Blockchain-based recording of transactions ensures transparency and prevents fraud.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Payment gateways enable secure and efficient monetary transactions.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5.Analytics and Reports: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Dashboards for buyers and sellers to track purchases, sales, and environmental impact.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Visualizations to showcase emission reductions and trading trends.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6.Geo-Mapping of Resources: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Integrates Google Maps API to display nearby renewable energy sellers.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7.Push Notifications: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Alerts for price changes, new listings, and promotions.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8.Incentive Programs: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Gamification elements to encourage eco-friendly behaviors, such as earning badges or rewards.</a:t>
            </a:r>
          </a:p>
        </p:txBody>
      </p:sp>
    </p:spTree>
    <p:extLst>
      <p:ext uri="{BB962C8B-B14F-4D97-AF65-F5344CB8AC3E}">
        <p14:creationId xmlns:p14="http://schemas.microsoft.com/office/powerpoint/2010/main" val="384256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-1726" y="8856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41774" y="623275"/>
            <a:ext cx="10905000" cy="5607900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6788A-517D-C7A5-F3EF-817B1D41772C}"/>
              </a:ext>
            </a:extLst>
          </p:cNvPr>
          <p:cNvSpPr txBox="1"/>
          <p:nvPr/>
        </p:nvSpPr>
        <p:spPr>
          <a:xfrm>
            <a:off x="1019197" y="968196"/>
            <a:ext cx="873979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Metrics and Feasibility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Market Opportunity: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Global carbon credit market size: $300 billion+ by 2030.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Renewable energy demand is growing at 8.4% annually.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US" sz="2000" b="1" dirty="0">
                <a:latin typeface="Bookman Old Style" panose="02050604050505020204" pitchFamily="18" charset="0"/>
              </a:rPr>
              <a:t>Impact Projections: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Potential reduction of 1 million tons of CO₂ annually if adopted by 10,000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Onboard 1,000 users within the first six months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US" sz="2000" b="1" dirty="0">
                <a:latin typeface="Bookman Old Style" panose="02050604050505020204" pitchFamily="18" charset="0"/>
              </a:rPr>
              <a:t>Feasibility: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Tech Stack: Leverages proven tools like React, Node.js, and blockchain.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Scalable Model: Designed for small-scale pilots with easy expansion.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EF939392-4800-9892-B763-4594DFBA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29D9E516-F63F-1B2F-DC55-278DF0DE2E46}"/>
              </a:ext>
            </a:extLst>
          </p:cNvPr>
          <p:cNvSpPr/>
          <p:nvPr/>
        </p:nvSpPr>
        <p:spPr>
          <a:xfrm>
            <a:off x="-1726" y="-7365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>
            <a:extLst>
              <a:ext uri="{FF2B5EF4-FFF2-40B4-BE49-F238E27FC236}">
                <a16:creationId xmlns:a16="http://schemas.microsoft.com/office/drawing/2014/main" id="{8BFB4728-9566-5AA2-D2C4-CF684B9689D5}"/>
              </a:ext>
            </a:extLst>
          </p:cNvPr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>
            <a:extLst>
              <a:ext uri="{FF2B5EF4-FFF2-40B4-BE49-F238E27FC236}">
                <a16:creationId xmlns:a16="http://schemas.microsoft.com/office/drawing/2014/main" id="{067F1A84-F197-4EAE-641E-F8A9A29825B6}"/>
              </a:ext>
            </a:extLst>
          </p:cNvPr>
          <p:cNvSpPr/>
          <p:nvPr/>
        </p:nvSpPr>
        <p:spPr>
          <a:xfrm>
            <a:off x="641774" y="623275"/>
            <a:ext cx="10905000" cy="5607900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32E82-BFA0-7DA5-886E-C9FA6B955165}"/>
              </a:ext>
            </a:extLst>
          </p:cNvPr>
          <p:cNvSpPr txBox="1"/>
          <p:nvPr/>
        </p:nvSpPr>
        <p:spPr>
          <a:xfrm>
            <a:off x="727588" y="598041"/>
            <a:ext cx="97339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Integration into </a:t>
            </a:r>
            <a:r>
              <a:rPr lang="en-US" sz="2000" b="1" dirty="0" err="1">
                <a:latin typeface="Bookman Old Style" panose="02050604050505020204" pitchFamily="18" charset="0"/>
              </a:rPr>
              <a:t>CityEase</a:t>
            </a:r>
            <a:r>
              <a:rPr lang="en-US" sz="2000" b="1" dirty="0">
                <a:latin typeface="Bookman Old Style" panose="02050604050505020204" pitchFamily="18" charset="0"/>
              </a:rPr>
              <a:t>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The marketplace complements </a:t>
            </a:r>
            <a:r>
              <a:rPr lang="en-US" sz="2000" dirty="0" err="1">
                <a:latin typeface="Bookman Old Style" panose="02050604050505020204" pitchFamily="18" charset="0"/>
              </a:rPr>
              <a:t>CityEase’s</a:t>
            </a:r>
            <a:r>
              <a:rPr lang="en-US" sz="2000" dirty="0">
                <a:latin typeface="Bookman Old Style" panose="02050604050505020204" pitchFamily="18" charset="0"/>
              </a:rPr>
              <a:t> goal of improving urban living by promoting sustainable practices within 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Provides an additional tool for citizens to contribute to the city’s environmental goals.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US" sz="2000" b="1" dirty="0">
                <a:latin typeface="Bookman Old Style" panose="02050604050505020204" pitchFamily="18" charset="0"/>
              </a:rPr>
              <a:t>Future Enhancements: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Mobile app development for on-the-go trading.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AI-powered recommendations for green energy solutions.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Partnerships with government bodies to validate carbon credits.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Educational resources to raise awareness about carbon footprints.</a:t>
            </a:r>
          </a:p>
          <a:p>
            <a:pPr>
              <a:buFont typeface="+mj-lt"/>
              <a:buAutoNum type="arabicPeriod"/>
            </a:pPr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US" sz="2000" b="1" dirty="0">
                <a:latin typeface="Bookman Old Style" panose="02050604050505020204" pitchFamily="18" charset="0"/>
              </a:rPr>
              <a:t>Conclusion:</a:t>
            </a:r>
            <a:r>
              <a:rPr lang="en-US" sz="2000" dirty="0">
                <a:latin typeface="Bookman Old Style" panose="02050604050505020204" pitchFamily="18" charset="0"/>
              </a:rPr>
              <a:t> The Green Energy Marketplace within </a:t>
            </a:r>
            <a:r>
              <a:rPr lang="en-US" sz="2000" dirty="0" err="1">
                <a:latin typeface="Bookman Old Style" panose="02050604050505020204" pitchFamily="18" charset="0"/>
              </a:rPr>
              <a:t>CityEase</a:t>
            </a:r>
            <a:r>
              <a:rPr lang="en-US" sz="2000" dirty="0">
                <a:latin typeface="Bookman Old Style" panose="02050604050505020204" pitchFamily="18" charset="0"/>
              </a:rPr>
              <a:t> is a step towards a sustainable future, empowering individuals and businesses to actively participate in reducing their environmental impact. By providing a transparent, efficient, and user-friendly platform, the project addresses the critical challenge of bridging the gap between green energy adoption and practical implementation.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1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Thanks </a:t>
            </a:r>
            <a:endParaRPr/>
          </a:p>
        </p:txBody>
      </p:sp>
      <p:pic>
        <p:nvPicPr>
          <p:cNvPr id="156" name="Google Shape;156;p7" descr="Lik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57" name="Google Shape;157;p7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8" name="Google Shape;158;p7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065FB3A8981043A30F3DEA1439B60D" ma:contentTypeVersion="4" ma:contentTypeDescription="Create a new document." ma:contentTypeScope="" ma:versionID="1b28d3384456e63f3b7446908c279752">
  <xsd:schema xmlns:xsd="http://www.w3.org/2001/XMLSchema" xmlns:xs="http://www.w3.org/2001/XMLSchema" xmlns:p="http://schemas.microsoft.com/office/2006/metadata/properties" xmlns:ns3="3712e838-3c2f-4638-83e4-1579d10a8bfe" targetNamespace="http://schemas.microsoft.com/office/2006/metadata/properties" ma:root="true" ma:fieldsID="50fd2acae9d6e926f9e58755da0d0738" ns3:_="">
    <xsd:import namespace="3712e838-3c2f-4638-83e4-1579d10a8b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2e838-3c2f-4638-83e4-1579d10a8b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600C1E-8A5F-43DF-937A-5B4A8DFA42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B76234-D2AF-4CDB-902D-E222A5B3BCBE}">
  <ds:schemaRefs>
    <ds:schemaRef ds:uri="http://purl.org/dc/elements/1.1/"/>
    <ds:schemaRef ds:uri="http://www.w3.org/XML/1998/namespace"/>
    <ds:schemaRef ds:uri="http://purl.org/dc/terms/"/>
    <ds:schemaRef ds:uri="3712e838-3c2f-4638-83e4-1579d10a8b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A4BF9A1-9734-4015-82A6-8C8ED5D286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12e838-3c2f-4638-83e4-1579d10a8b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634</Words>
  <Application>Microsoft Office PowerPoint</Application>
  <PresentationFormat>Widescreen</PresentationFormat>
  <Paragraphs>80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 Antiqua</vt:lpstr>
      <vt:lpstr>Bookman Old Style</vt:lpstr>
      <vt:lpstr>Calibri</vt:lpstr>
      <vt:lpstr>Times New Roman</vt:lpstr>
      <vt:lpstr>Wingdings</vt:lpstr>
      <vt:lpstr>Office Theme</vt:lpstr>
      <vt:lpstr>PowerPoint Presentation</vt:lpstr>
      <vt:lpstr>Team Detail  </vt:lpstr>
      <vt:lpstr>Problem Statement </vt:lpstr>
      <vt:lpstr>Problem Statement </vt:lpstr>
      <vt:lpstr>Technical Description</vt:lpstr>
      <vt:lpstr>PowerPoint Presentation</vt:lpstr>
      <vt:lpstr>Solution of the Problem</vt:lpstr>
      <vt:lpstr>PowerPoint Presentation</vt:lpstr>
      <vt:lpstr>PowerPoint Presentation</vt:lpstr>
      <vt:lpstr>PowerPoint Presentation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mohit22csu255</cp:lastModifiedBy>
  <cp:revision>11</cp:revision>
  <dcterms:created xsi:type="dcterms:W3CDTF">2022-01-13T00:30:16Z</dcterms:created>
  <dcterms:modified xsi:type="dcterms:W3CDTF">2025-04-30T04:17:32Z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0x010100EE065FB3A8981043A30F3DEA1439B60D</vt:lpwstr>
  </property>
</Properties>
</file>